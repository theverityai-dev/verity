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(₹, ex GST)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CRM, enquiry and quotation</c:v>
                  </c:pt>
                  <c:pt idx="1">
                    <c:v>Project and order management</c:v>
                  </c:pt>
                  <c:pt idx="2">
                    <c:v>Document management and numbering</c:v>
                  </c:pt>
                  <c:pt idx="3">
                    <c:v>Basic engineering and BOM</c:v>
                  </c:pt>
                  <c:pt idx="4">
                    <c:v>Basic procurement and inventory</c:v>
                  </c:pt>
                  <c:pt idx="5">
                    <c:v>Manufacturing execution and jobs</c:v>
                  </c:pt>
                  <c:pt idx="6">
                    <c:v>Manufacturing traveller</c:v>
                  </c:pt>
                  <c:pt idx="7">
                    <c:v>Core quality management</c:v>
                  </c:pt>
                  <c:pt idx="8">
                    <c:v>Dashboards and basic notifications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35000</c:v>
                </c:pt>
                <c:pt idx="1">
                  <c:v>25000</c:v>
                </c:pt>
                <c:pt idx="2">
                  <c:v>35000</c:v>
                </c:pt>
                <c:pt idx="3">
                  <c:v>35000</c:v>
                </c:pt>
                <c:pt idx="4">
                  <c:v>40000</c:v>
                </c:pt>
                <c:pt idx="5">
                  <c:v>40000</c:v>
                </c:pt>
                <c:pt idx="6">
                  <c:v>25000</c:v>
                </c:pt>
                <c:pt idx="7">
                  <c:v>30000</c:v>
                </c:pt>
                <c:pt idx="8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C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1C1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(₹, ex GST)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C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CRM, enquiry, quotation, sales order</c:v>
                  </c:pt>
                  <c:pt idx="1">
                    <c:v>Advanced project management</c:v>
                  </c:pt>
                  <c:pt idx="2">
                    <c:v>Engineering and product lifecycle</c:v>
                  </c:pt>
                  <c:pt idx="3">
                    <c:v>Controlled document workflows</c:v>
                  </c:pt>
                  <c:pt idx="4">
                    <c:v>Manufacturing execution</c:v>
                  </c:pt>
                  <c:pt idx="5">
                    <c:v>Travellers and process documents</c:v>
                  </c:pt>
                  <c:pt idx="6">
                    <c:v>Quality management system</c:v>
                  </c:pt>
                  <c:pt idx="7">
                    <c:v>Barcode, QR and traceability</c:v>
                  </c:pt>
                  <c:pt idx="8">
                    <c:v>Procurement and vendors</c:v>
                  </c:pt>
                  <c:pt idx="9">
                    <c:v>Inventory and warehouse</c:v>
                  </c:pt>
                  <c:pt idx="10">
                    <c:v>Production planning and basic MRP</c:v>
                  </c:pt>
                  <c:pt idx="11">
                    <c:v>Testing and equipment</c:v>
                  </c:pt>
                  <c:pt idx="12">
                    <c:v>Finance and accounting</c:v>
                  </c:pt>
                  <c:pt idx="13">
                    <c:v>HR and payroll</c:v>
                  </c:pt>
                  <c:pt idx="14">
                    <c:v>Dispatch and logistics</c:v>
                  </c:pt>
                  <c:pt idx="15">
                    <c:v>Contracts, compliance, risk</c:v>
                  </c:pt>
                  <c:pt idx="16">
                    <c:v>Management dashboards and BI</c:v>
                  </c:pt>
                  <c:pt idx="17">
                    <c:v>Notifications and automation</c:v>
                  </c:pt>
                  <c:pt idx="18">
                    <c:v>AI, documented use cases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30000</c:v>
                </c:pt>
                <c:pt idx="1">
                  <c:v>20000</c:v>
                </c:pt>
                <c:pt idx="2">
                  <c:v>30000</c:v>
                </c:pt>
                <c:pt idx="3">
                  <c:v>25000</c:v>
                </c:pt>
                <c:pt idx="4">
                  <c:v>30000</c:v>
                </c:pt>
                <c:pt idx="5">
                  <c:v>15000</c:v>
                </c:pt>
                <c:pt idx="6">
                  <c:v>25000</c:v>
                </c:pt>
                <c:pt idx="7">
                  <c:v>15000</c:v>
                </c:pt>
                <c:pt idx="8">
                  <c:v>20000</c:v>
                </c:pt>
                <c:pt idx="9">
                  <c:v>20000</c:v>
                </c:pt>
                <c:pt idx="10">
                  <c:v>20000</c:v>
                </c:pt>
                <c:pt idx="11">
                  <c:v>15000</c:v>
                </c:pt>
                <c:pt idx="12">
                  <c:v>20000</c:v>
                </c:pt>
                <c:pt idx="13">
                  <c:v>15000</c:v>
                </c:pt>
                <c:pt idx="14">
                  <c:v>10000</c:v>
                </c:pt>
                <c:pt idx="15">
                  <c:v>10000</c:v>
                </c:pt>
                <c:pt idx="16">
                  <c:v>15000</c:v>
                </c:pt>
                <c:pt idx="17">
                  <c:v>15000</c:v>
                </c:pt>
                <c:pt idx="18">
                  <c:v>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C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C1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Thank the team for the two detailed calls. The deck has three parts: what we understood from you, the three options with prices, and how it runs on your server. Everything here is from the written proposal; nothing is new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back to the client in his own words and ask: did we miss anything? Source: the call transcripts of 19 October (auto-captioned, noisy), summarised in clients/dsew/decisions.md. These are client-stated, not yet confirmed in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chain is the scope. Steps 1 to 8 appear in both options; the Complete ERP adds depth at each step plus finance, HR and payroll, contracts and AI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'Both options' means present in Option 1 (MVP) and Option 2/3 (Complete). Depth differs: see the comparison slide. Traceability to every sub-component is a Complete-ERP item and its exact depth is still a decision for DSEW (next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decision or a date on each row. Sources: clients/dsew/decisions.md (D2, D7 and the call findings of 19 Oct) and proposal section 9 and document 2 section 9 (Hindi interface labels not included). The customer-portal expectation conflicts with the read-only portal in the PRD.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document 4 section 2 of the proposal. Verity is our own platform; the proposal does not claim past ERP, MES or QMS deployments. Offer the live demo after the pricing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and scope are as agreed in the proposal dated 20 October 2026, valid 60 days. Option 3 is an alternative delivery structure for Option 2, not an additional purchase. IGST expected (our GSTIN is Delhi, DSEW is in Madhya Pradesh); confirmed at invoicing. The 'Our suggestion' label is our view, the client's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proposal section 3. Prices in rupees, excluding GST. The MVP is roughly 55% of the Complete ERP's functional scope (a planning estimate) and priced at about 68% of it, because the foundations are needed in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proposal section 4. Module development 3,65,000 + implementation 1,05,000 + governance 10,000 = 4,80,000. Price difference to the MVP is 1,55,000 (about 47.7% more).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19-row comparison is in proposal section 5 and the Scope Comparison sheet. Choose rows that match his priorities: traceability, documents, test records, payroll.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proposal section 6 and document 2 section 2. The weeks shown are the earliest start to the latest end across the 8-week and 12-week paces. The bar is each phase's share of 4,80,000.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proposal section 8. Option 1 total 3,25,000; Option 2 and 3 total 4,80,000. Milestone 4 (10%) is held until go-live gates pass and the handover is 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proposal section 7. Support is remote, Monday to Saturday, 10:00 to 18:00 IST. We acknowledge a report within 1 business day; a reproducible defect gets a fix or workaround plan within 3 business days. Escalation: Shubhankar Rakshit, CFO.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largest contract risk, so say it plainly. The proposal promises source code of DSEW-specific deliverables plus a perpetual licence to pre-existing components; it does not promise the whole Verity platform source. Do not overstate. Invite their lawyer to review document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document 2 sections 5 to 7. We do not run Verity natively on Windows Server 2019 and do not recommend Docker Desktop or WSL there. The plan is a Linux VM under Hyper-V or a small separate host. This has not been tested on his server; a non-intrusive compatibility check comes first. His own costs: backup target and UPS about 0.8 to 1.2 lakh; a new server only if the existing one cannot run the VM, about 3.5 to 4.5 lakh (planning estimates).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Kickoff is the latest of: signed order, product owner named, requirements inputs delivered. The first 5 business days after each milestone is DSEW's review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an option choice and a date for the five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Verity_DSEW_Detailed_Pricing.xlsx, Summary sheet, and proposal sections 1, 7 and document 2 section 11. First 12 months including GST = ex-GST total x 1.18.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1828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6968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94360" y="15544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for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&amp; S Electric Works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5943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heard, what we propose, and what it costs.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meeting  ·  21 October 2026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PlotArmour for D &amp; S Electric Works, Rau, Indore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562356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5623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48840" y="562356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48840" y="5623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03320" y="562356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03320" y="5623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57800" y="562356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5623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12280" y="562356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2280" y="5623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366760" y="562356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5623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921240" y="562356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21240" y="5623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 from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you told us over the two calls. These shape the whole proposal.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901952"/>
            <a:ext cx="512064" cy="512064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25420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you define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50392" y="2926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numbers built from your own positions: country, organisation, division, section, type. Characters 0 to 9 and A to Z.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1901952"/>
            <a:ext cx="512064" cy="512064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299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5420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to origin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26864" y="2926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every sub-component of an assembly, with visible revisions (R01, R02) and the drawing actually used.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47304" y="16459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1901952"/>
            <a:ext cx="512064" cy="512064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299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25420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you build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03336" y="29260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 and per product, with photo and video approval. No call to us for every new product.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9436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0392" y="4142232"/>
            <a:ext cx="512064" cy="512064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27024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392" y="4782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 in ten seconds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50392" y="516636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first, detail only on a failure. Every value in the right unit, with the condition it was tested under.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70832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4142232"/>
            <a:ext cx="512064" cy="512064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7024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4782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file at the end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4626864" y="516636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drawings and records in one stamped document you can submit to the customer.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47304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03336" y="4142232"/>
            <a:ext cx="512064" cy="512064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27024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3336" y="4782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server, your data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8403336" y="516636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NDA-bound client data stays on your own server. Shop-floor staff use Android phones. Staff are not technical.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94360" y="60350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raised: full source code and independence from any vendor  ·  attendance that reaches payroll without re-entry  ·  Hindi and English labels on the shop floor</a:t>
            </a:r>
            <a:endParaRPr lang="en-US" sz="12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from enquiry to dispatch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is an engineered job. One record carries it through every step, so nothing is retyped.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25296" y="2971800"/>
            <a:ext cx="9741103" cy="0"/>
          </a:xfrm>
          <a:prstGeom prst="line">
            <a:avLst/>
          </a:prstGeom>
          <a:noFill/>
          <a:ln w="25400">
            <a:solidFill>
              <a:srgbClr val="D1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67004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contact, requirement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15130" y="267004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5130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85946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40226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Revisions, approval, lost reason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6716" y="267004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6716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77532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1812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Job, milestones, tasks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98303" y="267004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1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8303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69119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23399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BOM, revisions, drawings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89889" y="267004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1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9889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60705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14985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receipt, stock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81475" y="267004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1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1475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52291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06571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travellers, hold and resume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73061" y="2670048"/>
            <a:ext cx="603504" cy="603504"/>
          </a:xfrm>
          <a:prstGeom prst="ellipse">
            <a:avLst/>
          </a:prstGeom>
          <a:solidFill>
            <a:srgbClr val="0A84FF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73061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43877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8157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Readings, units, pass or fail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664647" y="267004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1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64647" y="2670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335463" y="342900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89743" y="379476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Pack, delivery note, QR identity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" y="4892040"/>
            <a:ext cx="11002975" cy="1051560"/>
          </a:xfrm>
          <a:prstGeom prst="roundRect">
            <a:avLst>
              <a:gd name="adj" fmla="val 10435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" y="5138928"/>
            <a:ext cx="548640" cy="5486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276088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645920" y="50109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or missing mandatory check blocks release.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1645920" y="5422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factory without its checks, and a released revision cannot be edited. A change creates a new revision through approval.</a:t>
            </a:r>
            <a:endParaRPr lang="en-US" sz="130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needs, and where each one lands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the proposal, in the option shown.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7764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VERITY ANSWERS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8116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75104"/>
            <a:ext cx="11002975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751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numbering you define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19751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numbering per document type; each client counts on its own; search by number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281160" y="213969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3F4E8"/>
          </a:solidFill>
          <a:ln w="12700">
            <a:solidFill>
              <a:srgbClr val="E3F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2139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60904"/>
            <a:ext cx="11002975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6609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drawing was used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77640" y="26609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history; the order records its revision; a released revision cannot be edited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81160" y="282549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3F4E8"/>
          </a:solidFill>
          <a:ln w="12700">
            <a:solidFill>
              <a:srgbClr val="E3F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8254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346704"/>
            <a:ext cx="11002975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3467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report, summary first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33467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first; each reading in a fixed unit against its accepted range, with its test condition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81160" y="351129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3F4E8"/>
          </a:solidFill>
          <a:ln w="12700">
            <a:solidFill>
              <a:srgbClr val="E3F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35112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4032504"/>
            <a:ext cx="11002975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0325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floor on Android phones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40325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screens; camera opens for photo checks; QR scan on the order returns after sign-in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81160" y="419709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3F4E8"/>
          </a:solidFill>
          <a:ln w="12700">
            <a:solidFill>
              <a:srgbClr val="E3F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718304"/>
            <a:ext cx="11002975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7183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to origin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77640" y="47183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basic material and job references. Complete: batch, heat and serial tracking, product genealogy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281160" y="488289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0" y="4882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5404104"/>
            <a:ext cx="11002975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54041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without re-entry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977640" y="54041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leave, timesheets and payroll runs on your rules, in one system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281160" y="556869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81160" y="5568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only you can decide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changes scope or cost. We will not assume an answer.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A65200"/>
          </a:solidFill>
          <a:ln w="12700">
            <a:solidFill>
              <a:srgbClr val="A652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depth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40480" y="1691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or heat on receipt, serial numbers, or every sub-component of every assembly?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06640" y="16916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lot or heat and certificate on receipt, issue to order, unique unit identity. Full genealogy costs more.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60604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A65200"/>
          </a:solidFill>
          <a:ln w="12700">
            <a:solidFill>
              <a:srgbClr val="A652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9032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labels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840480" y="2606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 labels for shop-floor staff on Android.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06640" y="2606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current scope. We keep text in one place so it stays possible. Tell us if it is a go-live requirement.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52044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A65200"/>
          </a:solidFill>
          <a:ln w="12700">
            <a:solidFill>
              <a:srgbClr val="A652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machine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840480" y="3520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eSSL K90 export into Verity, so no re-entry into payroll.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406640" y="35204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is in Complete. Device integration is excluded until we confirm the model and its export or API.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94360" y="443484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A65200"/>
          </a:solidFill>
          <a:ln w="12700">
            <a:solidFill>
              <a:srgbClr val="A652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73202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434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accounts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840480" y="4434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4 customer users per project who raise tickets and see shared drawings.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406640" y="44348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current module list. Needs scope and a price before we promise it.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94360" y="534924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22960" y="5532120"/>
            <a:ext cx="457200" cy="457200"/>
          </a:xfrm>
          <a:prstGeom prst="ellipse">
            <a:avLst/>
          </a:prstGeom>
          <a:solidFill>
            <a:srgbClr val="A65200"/>
          </a:solidFill>
          <a:ln w="12700">
            <a:solidFill>
              <a:srgbClr val="A652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564642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349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builder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840480" y="5349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you build yourself with photo and video approval fields.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406640" y="5349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travellers and checkpoints are in. A builder you operate alone is confirmed in the specification.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runs, and what we build for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 which is which, so you are never surprised.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64328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33008" y="1691640"/>
            <a:ext cx="5364328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4767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Verity today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Per-company data isolation, roles and permissions, audit trail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ledger with reversal-only corrections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orders from a BOM, stages, hold and resume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checkpoints with evidence that block completion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jobs: milestones, tasks, time, costs, quote revisions and approval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traveller, dispatch pack, QR identity for a finished unit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our test environments with fictional data.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3048" y="194767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DSEW in this project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53048" y="2468880"/>
            <a:ext cx="47242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Revision-controlled BOM and engineering change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documents with your numbering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test records and the printable test report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inventory and planning depth, MRP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Traceability, dispatch, contracts, dashboards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HR and payroll, documented AI use cases (Complete)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3048" y="49834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on your host. See the go-live gates.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buy, one price each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fee, ex GST. No per-user or annual licence. Up to 15 named users, one site.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58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engineering and manufacturing ERP: enquiry to quote to order, BOM, materials, manufacturing, travellers, quality.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₹3,25,000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₹3,83,500 incl. 18% GST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 8 weeks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months, ex GST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₹4,27,000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5152" y="2258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ERP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5152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modules of your enquiry plus documented AI use cases, with deeper workflows and cross-module links.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45152" y="3794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₹4,80,000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645152" y="4480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₹5,66,400 incl. 18% GST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12 weeks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months, ex GST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₹5,82,000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47304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21624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04704" y="192938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04704" y="1929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suggestion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21624" y="22585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in four phases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21624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Complete ERP and the same price, delivered in four phases with a demonstration and acceptance at each.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21624" y="3794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₹4,80,000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421624" y="44805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₹5,66,400 incl. 18% GST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624" y="4983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12 weeks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months, ex GST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₹5,82,000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1264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 = one-time fee plus the bundled ₹1,02,000 warranty, testing support and maintenance fee. Timelines are estimates, not fixed deadlines.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MVP, ₹3,25,000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 plus implementation. One connected workflow from enquiry to delivery readiness.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72237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737360"/>
          <a:ext cx="69494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645920"/>
            <a:ext cx="350489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1810512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₹3,25,000 goes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66760" y="2212848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17175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2,80,000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2514600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design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317175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366760" y="2816352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deployment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17175" y="2816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66760" y="3118104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UAT support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317175" y="3118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66760" y="3419856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training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17175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92440" y="3977640"/>
            <a:ext cx="3504895" cy="2103120"/>
          </a:xfrm>
          <a:prstGeom prst="roundRect">
            <a:avLst>
              <a:gd name="adj" fmla="val 5217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66760" y="41148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MVP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66760" y="4480560"/>
            <a:ext cx="29562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accounting, HR and payroll, dispatch workflow, contracts and compliance, advanced MRP, barcode genealogy, AI.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Complete ERP, ₹4,80,000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modules, built inside Verity. No third-party software to buy.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2237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627632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554480"/>
            <a:ext cx="3504895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1719072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₹4,80,000 goes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66760" y="2121408"/>
            <a:ext cx="2041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modules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317175" y="2121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3,65,000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366760" y="2368296"/>
            <a:ext cx="2041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architecture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317175" y="23682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366760" y="2615184"/>
            <a:ext cx="2041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and workflow configuration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317175" y="2615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66760" y="2862072"/>
            <a:ext cx="2041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deployment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317175" y="2862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66760" y="3108960"/>
            <a:ext cx="2041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UAT support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317175" y="3108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366760" y="3355848"/>
            <a:ext cx="2041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training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317175" y="3355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66760" y="3602736"/>
            <a:ext cx="2041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317175" y="36027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92440" y="4069080"/>
            <a:ext cx="3504895" cy="2057400"/>
          </a:xfrm>
          <a:prstGeom prst="roundRect">
            <a:avLst>
              <a:gd name="adj" fmla="val 5333"/>
            </a:avLst>
          </a:prstGeom>
          <a:solidFill>
            <a:srgbClr val="E5F1FF"/>
          </a:solidFill>
          <a:ln w="12700">
            <a:solidFill>
              <a:srgbClr val="E5F1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66760" y="420624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baseline depth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66760" y="4572000"/>
            <a:ext cx="2956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workflows and limited customisation, fixed in a written specification before development starts. Outside it: advanced AI, bulk historical migration, statutory certification, third-party integrations.</a:t>
            </a:r>
            <a:endParaRPr lang="en-US" sz="12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versus Complete, where it matters to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₹1,55,000 difference buys breadth and depth. These are the rows that map to what you asked for.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297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32511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1: MVP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2 / 3: 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and PLM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and component records, BOMs, drawing attachments, revisions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Multi-level BOMs, engineering change orders, formal design approvals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Repository, numbering, revision history, search, basic approvals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controlled-document lifecycle, transmittals, acknowledgements,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Incoming, in-process and final inspection, NCRs, quality 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QAP/ITP, CAPA, audits, calibration, supplier quality,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material and job references, manual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scanning, batch, heat and serial, product genealogy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and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balances, issues, reservations; manual material planning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Multi-warehouse, valuation, ageing; automated BOM-based MRP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and accounting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Invoicing, payment status, GST support, receivables and payables, profitability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and payroll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Attendance, leave, payroll runs on your rules, payslips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84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use cases only; never an approver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the Complete ERP in four phases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₹4,80,000, about 8 to 12 weeks. Each phase ends in a demonstration and a written review.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578608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947672"/>
            <a:ext cx="502920" cy="5029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to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26060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commercial core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0392" y="329184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customer, enquiry, quotation, order and project, with controlled numbering, initial engineering masters and BOM.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0392" y="45262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01568" y="1691640"/>
            <a:ext cx="2578608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947672"/>
            <a:ext cx="502920" cy="5029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15968" y="1947672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to 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and manufacturing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BOM drives material needs for a job; purchases, receipts and stock recorded; engineering release works. First backup and restore rehearsal.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0" y="45262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₹1,35,000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08776" y="1691640"/>
            <a:ext cx="2578608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64808" y="1947672"/>
            <a:ext cx="502920" cy="5029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23176" y="1947672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 to 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4808" y="26060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traceability, controls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64808" y="329184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and inspections linked; traceability, testing, dispatch, contracts work; a failed mandatory check blocks release.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64808" y="45262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₹1,30,000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015984" y="1691640"/>
            <a:ext cx="2578608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72016" y="1947672"/>
            <a:ext cx="502920" cy="5029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930384" y="1947672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 to 12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72016" y="260604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modules and go-live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72016" y="329184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HR and payroll, dashboards, notifications, AI use cases; end-to-end UAT, final restore test, training, handover.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72016" y="452628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₹95,000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594360" y="5440680"/>
            <a:ext cx="2714168" cy="201168"/>
          </a:xfrm>
          <a:prstGeom prst="rect">
            <a:avLst/>
          </a:prstGeom>
          <a:solidFill>
            <a:srgbClr val="0A84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45104" y="5440680"/>
            <a:ext cx="3058011" cy="201168"/>
          </a:xfrm>
          <a:prstGeom prst="rect">
            <a:avLst/>
          </a:prstGeom>
          <a:solidFill>
            <a:srgbClr val="0062CC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9691" y="5440680"/>
            <a:ext cx="2943396" cy="201168"/>
          </a:xfrm>
          <a:prstGeom prst="rect">
            <a:avLst/>
          </a:prstGeom>
          <a:solidFill>
            <a:srgbClr val="0A84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9663" y="5440680"/>
            <a:ext cx="2141096" cy="201168"/>
          </a:xfrm>
          <a:prstGeom prst="rect">
            <a:avLst/>
          </a:prstGeom>
          <a:solidFill>
            <a:srgbClr val="0062CC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prices allocate the Option 2 total. Payments follow the four milestones on the next slide. Week ranges depend on the 8-week or 12-week pace and are estimates.</a:t>
            </a:r>
            <a:endParaRPr lang="en-US" sz="11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pay: 30, 30, 30, 10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invoice is tied to a milestone and payable within 7 days. Same structure for every option.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255173" cy="502920"/>
          </a:xfrm>
          <a:prstGeom prst="rect">
            <a:avLst/>
          </a:prstGeom>
          <a:solidFill>
            <a:srgbClr val="0A84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32551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95253" y="1783080"/>
            <a:ext cx="3255173" cy="502920"/>
          </a:xfrm>
          <a:prstGeom prst="rect">
            <a:avLst/>
          </a:prstGeom>
          <a:solidFill>
            <a:srgbClr val="0062CC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5253" y="1783080"/>
            <a:ext cx="32551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96145" y="1783080"/>
            <a:ext cx="3255173" cy="502920"/>
          </a:xfrm>
          <a:prstGeom prst="rect">
            <a:avLst/>
          </a:prstGeom>
          <a:solidFill>
            <a:srgbClr val="0A4FA3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6145" y="1783080"/>
            <a:ext cx="32551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97038" y="1783080"/>
            <a:ext cx="1054578" cy="502920"/>
          </a:xfrm>
          <a:prstGeom prst="rect">
            <a:avLst/>
          </a:prstGeom>
          <a:solidFill>
            <a:srgbClr val="0B0B10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7038" y="1783080"/>
            <a:ext cx="105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2578608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27614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30358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392" y="34290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order, product owner named, requirements signed off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" y="42519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₹97,500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/ 3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₹1,44,000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2560320"/>
            <a:ext cx="2578608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7614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0358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657600" y="34290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core and first working release demonstrated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0" y="42519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₹97,500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/ 3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₹1,44,000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08776" y="2560320"/>
            <a:ext cx="2578608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64808" y="27614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64808" y="30358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build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64808" y="34290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testing and UAT build delivered to DSEW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64808" y="42519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₹97,500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/ 3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₹1,44,000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15984" y="2560320"/>
            <a:ext cx="2578608" cy="274320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72016" y="27614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72016" y="30358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and handover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72016" y="342900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signed off, go-live gates passed, handover signed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72016" y="42519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₹32,500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/ 3  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₹48,000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5532120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ex GST; GST at the rate then applicable is added to each invoice. After each milestone you have 5 business days to report material deviations. No report in the window means accepted.</a:t>
            </a:r>
            <a:endParaRPr lang="en-US" sz="12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12 months: one bundled fee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separate warranty, testing-support charge and maintenance contract.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931920" cy="4343400"/>
          </a:xfrm>
          <a:prstGeom prst="roundRect">
            <a:avLst>
              <a:gd name="adj" fmla="val 2791"/>
            </a:avLst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₹8,500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ex GST, for 12 months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(₹10,030 incl. GST)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go-live, not at kickoff. Billed monthly in advance, payable within 7 days.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₹1,02,000 ex GST for the year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679673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01768" y="1874520"/>
            <a:ext cx="502920" cy="5029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498" y="200025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15000" y="1764792"/>
            <a:ext cx="5699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warranty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15000" y="2057400"/>
            <a:ext cx="569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reproducible defect against the signed requirements is corrected, in UAT or at any time in the 12 months.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800600" y="2670048"/>
            <a:ext cx="679673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01768" y="2852928"/>
            <a:ext cx="502920" cy="5029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498" y="2978658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715000" y="2743200"/>
            <a:ext cx="5699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UAT help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715000" y="3035808"/>
            <a:ext cx="569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you run the agreed scripts on real jobs, reproduce and triage every issue, and review feedback with you.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00600" y="3648456"/>
            <a:ext cx="679673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01768" y="3831336"/>
            <a:ext cx="502920" cy="50292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498" y="3957066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715000" y="3721608"/>
            <a:ext cx="5699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maintenance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715000" y="4014216"/>
            <a:ext cx="569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releases, stability and security updates, backup and restore help, administrator guidance.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800600" y="4663440"/>
            <a:ext cx="6796735" cy="1371600"/>
          </a:xfrm>
          <a:prstGeom prst="roundRect">
            <a:avLst>
              <a:gd name="adj" fmla="val 8000"/>
            </a:avLst>
          </a:prstGeom>
          <a:solidFill>
            <a:srgbClr val="FFF0DC"/>
          </a:solidFill>
          <a:ln w="12700">
            <a:solidFill>
              <a:srgbClr val="FFF0D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74920" y="4754880"/>
            <a:ext cx="6248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separately, approved in writing first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074920" y="5074920"/>
            <a:ext cx="6248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features, workflow changes, extra integrations, new users or sites, data cleansing, hardware faults, on-site work. Up to 8 hours a month of testing help and maintenance is included. Support after 12 months is a renewal agreed in writing.</a:t>
            </a:r>
            <a:endParaRPr lang="en-US" sz="11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Independence, in writing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told us a previous vendor left you without source code. This is how we address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734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404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on full payment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377440"/>
            <a:ext cx="4047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of the DSEW-specific deliverables, in a repository you control, with deployment instructions and the database schema.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23864" y="1691640"/>
            <a:ext cx="53734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8184" y="1965960"/>
            <a:ext cx="548640" cy="5486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75424" y="1947672"/>
            <a:ext cx="404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yours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75424" y="2377440"/>
            <a:ext cx="4047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any time: records as CSV and files in their original form with an index. No lock-in on your own information.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703320"/>
            <a:ext cx="53734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77640"/>
            <a:ext cx="548640" cy="5486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114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59352"/>
            <a:ext cx="404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perpetual licence to the platform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4389120"/>
            <a:ext cx="4047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full payment, a perpetual licence to the pre-existing Verity components used inside your solution. No annual or per-user fee.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23864" y="3703320"/>
            <a:ext cx="5373472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8184" y="3977640"/>
            <a:ext cx="548640" cy="54864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4114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75424" y="3959352"/>
            <a:ext cx="404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with us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75424" y="4389120"/>
            <a:ext cx="4047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Verity's core, reusable libraries and frameworks. This is what lets us serve other clients and keep improving your system.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94360" y="58521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ownership and licence wording is being reviewed by counsel and is open for your own legal review before signature (document 3).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server, behind your firewall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client data stays on your own machine.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035040" cy="2331720"/>
          </a:xfrm>
          <a:prstGeom prst="roundRect">
            <a:avLst>
              <a:gd name="adj" fmla="val 3922"/>
            </a:avLst>
          </a:prstGeom>
          <a:solidFill>
            <a:srgbClr val="F2F2F7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75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Windows Server 2019 host (Hyper-V)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2468880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0B0B10"/>
          </a:solidFill>
          <a:ln w="12700">
            <a:solidFill>
              <a:srgbClr val="0B0B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542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VM  ·  4 vCPU, 16 GB RAM, 500 GB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9718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61488" y="29718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29718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1376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(Keycloak)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41264" y="29718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 w="9525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29718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4343400"/>
            <a:ext cx="0" cy="457200"/>
          </a:xfrm>
          <a:prstGeom prst="line">
            <a:avLst/>
          </a:prstGeom>
          <a:noFill/>
          <a:ln w="19050">
            <a:solidFill>
              <a:srgbClr val="D1D1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800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2F2F7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7632" y="4910328"/>
            <a:ext cx="402336" cy="402336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5010912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5330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PCs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822192" y="4343400"/>
            <a:ext cx="0" cy="457200"/>
          </a:xfrm>
          <a:prstGeom prst="line">
            <a:avLst/>
          </a:prstGeom>
          <a:noFill/>
          <a:ln w="19050">
            <a:solidFill>
              <a:srgbClr val="D1D1D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07792" y="4800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2F2F7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21024" y="4910328"/>
            <a:ext cx="402336" cy="402336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5010912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953512" y="5330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Android phones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815584" y="4343400"/>
            <a:ext cx="0" cy="457200"/>
          </a:xfrm>
          <a:prstGeom prst="line">
            <a:avLst/>
          </a:prstGeom>
          <a:noFill/>
          <a:ln w="19050">
            <a:solidFill>
              <a:srgbClr val="D1D1D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901184" y="4800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2F2F7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614416" y="4910328"/>
            <a:ext cx="402336" cy="402336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010912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946904" y="5330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target and UPS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14400" y="57150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your LAN with HTTPS. Remote only through your VPN.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543800" y="1691640"/>
            <a:ext cx="4053535" cy="4343400"/>
          </a:xfrm>
          <a:prstGeom prst="roundRect">
            <a:avLst>
              <a:gd name="adj" fmla="val 27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7818120" y="192024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gates</a:t>
            </a:r>
            <a:endParaRPr lang="en-US" sz="1900" dirty="0"/>
          </a:p>
        </p:txBody>
      </p:sp>
      <p:sp>
        <p:nvSpPr>
          <p:cNvPr id="35" name="Text 30"/>
          <p:cNvSpPr/>
          <p:nvPr/>
        </p:nvSpPr>
        <p:spPr>
          <a:xfrm>
            <a:off x="7818120" y="2313432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6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 is blocked until all six pass. None is completed yet.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7818120" y="2880360"/>
            <a:ext cx="35048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survey done, host confirmed suitable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HTTPS work, including a real-phone upload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backup and restore passes on a clean machine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and storage outage behaviour tested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scripts pass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reconciles with the system</a:t>
            </a:r>
            <a:endParaRPr lang="en-US" sz="12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you, and what happens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48640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DSEW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product owner, about 3 to 4 hours a week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 numbering scheme, and who owns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drafts, reviews, approves and releases drawings, BOMs and test records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drawing, BOM, quotation, traveller, test report, packing list, challan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per product family and the acceptance limits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details: make, OS, CPU, RAM, free space, Hyper-V, backup target, IT contact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answers on the five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5242255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618488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29400" y="2240280"/>
            <a:ext cx="457200" cy="457200"/>
          </a:xfrm>
          <a:prstGeom prst="ellipse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69480" y="2194560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69480" y="2450592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option; we answer open 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2990088"/>
            <a:ext cx="457200" cy="457200"/>
          </a:xfrm>
          <a:prstGeom prst="ellipse">
            <a:avLst/>
          </a:prstGeom>
          <a:solidFill>
            <a:srgbClr val="E9E9EE"/>
          </a:solidFill>
          <a:ln w="12700">
            <a:solidFill>
              <a:srgbClr val="E9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69480" y="2944368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3200400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NDA, then your samples and server answers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3739896"/>
            <a:ext cx="457200" cy="457200"/>
          </a:xfrm>
          <a:prstGeom prst="ellipse">
            <a:avLst/>
          </a:prstGeom>
          <a:solidFill>
            <a:srgbClr val="E9E9EE"/>
          </a:solidFill>
          <a:ln w="12700">
            <a:solidFill>
              <a:srgbClr val="E9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3694176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950208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reviews document 3; you sign the order and name the product owner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4489704"/>
            <a:ext cx="457200" cy="457200"/>
          </a:xfrm>
          <a:prstGeom prst="ellipse">
            <a:avLst/>
          </a:prstGeom>
          <a:solidFill>
            <a:srgbClr val="E9E9EE"/>
          </a:solidFill>
          <a:ln w="12700">
            <a:solidFill>
              <a:srgbClr val="E9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4443984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days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4700016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server check, then a signed specification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5239512"/>
            <a:ext cx="457200" cy="457200"/>
          </a:xfrm>
          <a:prstGeom prst="ellipse">
            <a:avLst/>
          </a:prstGeom>
          <a:solidFill>
            <a:srgbClr val="E9E9EE"/>
          </a:solidFill>
          <a:ln w="12700">
            <a:solidFill>
              <a:srgbClr val="E9E9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69480" y="5193792"/>
            <a:ext cx="4053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9480" y="5449824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install on your VM; the 8 to 12 weeks begin</a:t>
            </a:r>
            <a:endParaRPr lang="en-US" sz="12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1828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6968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94360" y="173736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once.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it from your side.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943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next hundred products never need another visit to us.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94360" y="5303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team@plotarmour.in  ·  +91 87440 69597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1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31/44 St 3, Block 17, Vishwas Nagar, Delhi 110032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price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Rupees. GST at 18% is illustrative; IGST expected, confirmed at invoicing.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0297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313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1: MVP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2: 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3: Phased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1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fee, ex GST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 at 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including GST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5,66,400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5,66,400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bundled fee, ex GST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12 months, ex GST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4,27,000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12 months, including GST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5,03,860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6,86,760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6,86,760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delivery from kickoff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to 8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to 12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to 12 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46304" marR="146304" marT="36576" marB="36576" anchor="ctr">
                    <a:lnL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2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623560"/>
            <a:ext cx="11002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included: DSEW's own infrastructure (backup target and UPS about ₹0.8 to 1.2 lakh; a new server only if needed, ₹3.5 to 4.5 lakh), external AI service charges, GPU hardware, support after month 12. Prices are fixed and not discounted further. Valid for 60 days from 20 October 2026.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382512"/>
            <a:ext cx="118872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28" y="6355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PlotArmour  ·  Verity for D &amp; S Electric Works  ·  Proposal meeting, 21 October 2026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682935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PlotArmour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Verity for D &amp; S Electric Works: requirements, proposal and pricing</dc:title>
  <dc:subject>PptxGenJS Presentation</dc:subject>
  <dc:creator>PlotArmour</dc:creator>
  <cp:lastModifiedBy>PlotArmour</cp:lastModifiedBy>
  <cp:revision>1</cp:revision>
  <dcterms:created xsi:type="dcterms:W3CDTF">2026-10-21T11:10:37Z</dcterms:created>
  <dcterms:modified xsi:type="dcterms:W3CDTF">2026-10-21T11:10:37Z</dcterms:modified>
</cp:coreProperties>
</file>